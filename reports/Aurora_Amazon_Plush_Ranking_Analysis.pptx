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시장 규모 (US$ B)</c:v>
                </c:pt>
              </c:strCache>
            </c:strRef>
          </c:tx>
          <c:spPr>
            <a:solidFill>
              <a:srgbClr val="1E3A8A"/>
            </a:solidFill>
            <a:effectLst/>
          </c:spPr>
          <c:invertIfNegative val="0"/>
          <c:dLbls>
            <c:numFmt formatCode="$#,##0.0&quot;B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937"/>
                    </a:solidFill>
                    <a:latin typeface="Pretendard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3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2025</c:v>
                  </c:pt>
                  <c:pt idx="1">
                    <c:v>2029(E)</c:v>
                  </c:pt>
                  <c:pt idx="2">
                    <c:v>2033(E)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13.68</c:v>
                </c:pt>
                <c:pt idx="1">
                  <c:v>19</c:v>
                </c:pt>
                <c:pt idx="2">
                  <c:v>25.94</c:v>
                </c:pt>
              </c:numCache>
            </c:numRef>
          </c:val>
        </c:ser>
        <c:dLbls>
          <c:numFmt formatCode="$#,##0.0&quot;B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1F2937"/>
                  </a:solidFill>
                  <a:latin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F293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미국 아마존 봉제완구 카테고리의 4개 공식 랭킹(Best Sellers / Movers &amp; Shakers / New Releases / Most Wished For)을 교차 분석하여, 오로라 상품기획의 우선 개발 방향을 도출한 보고서입니다.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보고의 결론을 한 장으로 압축. 4대 랭킹은 대체재가 아니라 시간축이 다른 지표이며, 겹치는 지점을 봐야 개발 우선순위가 나옵니다.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Sellers = 현재, Movers = 단기, New Releases = 신상품, Most Wished For = 미래. 이 네 축을 분리해서 봐야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 지표만 보면 오판합니다. Movers 단독 급등은 할인 프로모션일 가능성이 높아 대량 개발 근거로 쓰면 안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미니/클립온/백참 : Most Wished·New Releases 동시 진입 여부 확인. 2 블라인드박스 : Movers 급상승 여부. 3 기능성 : Best Seller 장기 잔존 여부. 4 어글리 큐트 : 위시리스트 저장률. 5 리얼리즘 : Best Seller 안정성. 6 베이비 : 리뷰 수. 7 푸드 : New Releases 반응. 8 IP : Best Seller와 Most Wished 중복 여부.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초안에서 Mary Meyer가 ebba와 같은 계열처럼 표기되어 있었습니다. 자사 브랜드와 벤치마크 대상을 명확히 분리했습니다.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시장 자체가 아동 완구에서 성인 감성 소비로 확장되고 있어, 오로라의 신규 라인 확장 근거가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1~3순위를 우선 착수 대상으로 제안합니다. 나머지는 기존 라인 강화 및 후속 검토 대상입니다.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실행은 세 가지입니다. 랭킹 정기 캡처 체계화, 교차 상위 SKU 리스트업, 미니·백참 라인 선행 기획 착수.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AURORA  |  PRODUCT PLANNING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881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Amazon 봉제완구 랭킹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4대 지표 교차분석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0632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팔리는 상품이 아니라, 앞으로 팔릴 상품을 찾는 프레임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39776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SELLERS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429000" y="39776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MOVERS &amp; SHAKERS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39776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RELEASES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006840" y="3977640"/>
            <a:ext cx="2514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98280" y="39776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MOST WISHED FOR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5349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미국 Amazon  &gt;  Toys &amp; Games  &gt;  Stuffed Animals &amp; Plush Toys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 : 상품기획팀   |   데이터 기준일 : 2026. 10. 05. (금일 조회 기준)   |   랭킹은 시간·지역에 따라 변동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핵심 요약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201168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83794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4개 랭킹은 서로 다른 시점을 본다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645920" y="2295144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매출 · 24시간 급등 · 신상품 반응 · 미래 구매의향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026664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3346704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3346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3172968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지점에서 성장 상품군이 드러난다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1645920" y="3630168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플러시·백참, 블라인드박스, 기능성 힐링 plush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4361688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4681728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4681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450799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강점은 지키고, 키덜트·라이프스타일로 확장한다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645920" y="4965192"/>
            <a:ext cx="9509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동물 리얼리즘·베이비 경쟁력 유지 + 수집·착용형 신규 라인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봉제완구 시장 </a:t>
            </a:r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$13.7B (2025) → $25.9B (2033)</a:t>
            </a:r>
            <a:pPr indent="0" marL="0"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·  연평균 약 8%대 성장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FRAMEWORK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4대 랭킹 지표, 무엇을 말하는가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578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1883664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SELLERS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32688" y="2176272"/>
            <a:ext cx="4672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현재 판매 검증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32688" y="2724912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실제로 팔리는 상품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 단위로 갱신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63640" y="1719072"/>
            <a:ext cx="52578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6248" y="1883664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MOVERS &amp; SHAKERS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6248" y="2176272"/>
            <a:ext cx="4672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단기 바이럴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556248" y="2724912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24시간 순위 상승폭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SNS·프로모션 반응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3895344"/>
            <a:ext cx="52578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40599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RELEASES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932688" y="4352544"/>
            <a:ext cx="4672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신상품 초기 반응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" y="4901184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출시·출시예정 신상품 중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판매 반응이 빠른 상품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63640" y="3895344"/>
            <a:ext cx="525780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6248" y="40599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MOST WISHED FOR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556248" y="4352544"/>
            <a:ext cx="46725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미래 구매 욕망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556248" y="4901184"/>
            <a:ext cx="46725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위시리스트·레지스트리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저장이 가장 많은 상품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Best Sellers Rank는 수시 갱신, Movers &amp; Shakers는 최근 24시간 기준 → 접속 시점·지역·재고에 따라 순위 상이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CROSS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교차하면 기획 판단이 나온다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965960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17373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+ WISHED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892040" y="173736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40680" y="1737360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안정 SKU · 기본 라인업화, 재고 확대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2459736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688336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245973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BEST + NEW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892040" y="245973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40680" y="2459736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차별화 소재·동물·사이즈로 후속 개발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40080" y="3182112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410712"/>
            <a:ext cx="164592" cy="16459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18211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MOVERS + WISHED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892040" y="318211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440680" y="3182112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숏폼·인플루언서·팝업 테스트 상품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640080" y="3904488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4133088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3904488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NEW + WISHED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892040" y="390448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3904488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6~12개월 선행 기획 후보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40080" y="4626864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855464"/>
            <a:ext cx="164592" cy="164592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61872" y="46268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MOVERS 단독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892040" y="462686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440680" y="4626864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일시적 프로모션 — 대량 개발 보류</a:t>
            </a:r>
            <a:endParaRPr lang="en-US" sz="2600" dirty="0"/>
          </a:p>
        </p:txBody>
      </p:sp>
      <p:sp>
        <p:nvSpPr>
          <p:cNvPr id="29" name="Shape 27"/>
          <p:cNvSpPr/>
          <p:nvPr/>
        </p:nvSpPr>
        <p:spPr>
          <a:xfrm>
            <a:off x="640080" y="534924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14400" y="5577840"/>
            <a:ext cx="164592" cy="164592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61872" y="53492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WISHED ↑ · BEST ↓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92040" y="534924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5440680" y="5349240"/>
            <a:ext cx="5806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가격·재고 장벽 → 프리미엄 선물형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SIGNAL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랭킹에서 읽히는 성장 상품군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920240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1719072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플러시 · 클립온 · 백참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263640" y="1719072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01384" y="1920240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01384" y="192024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159752" y="1719072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블라인드박스형 봉제 굿즈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2944368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2944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36192" y="274320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 · 수면 · 온열 기능성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263640" y="2743200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01384" y="2944368"/>
            <a:ext cx="493776" cy="493776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294436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159752" y="2743200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어글리 큐트 캐릭터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40080" y="3767328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3968496"/>
            <a:ext cx="493776" cy="49377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7824" y="3968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536192" y="376732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리얼리즘 동물 plush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263640" y="3767328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01384" y="3968496"/>
            <a:ext cx="493776" cy="49377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396849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59752" y="3767328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베이비 센서리 plush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40080" y="4791456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77824" y="4992624"/>
            <a:ext cx="493776" cy="49377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4992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536192" y="4791456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푸드 · 디저트 plush</a:t>
            </a:r>
            <a:endParaRPr lang="en-US" sz="2600" dirty="0"/>
          </a:p>
        </p:txBody>
      </p:sp>
      <p:sp>
        <p:nvSpPr>
          <p:cNvPr id="32" name="Shape 30"/>
          <p:cNvSpPr/>
          <p:nvPr/>
        </p:nvSpPr>
        <p:spPr>
          <a:xfrm>
            <a:off x="6263640" y="4791456"/>
            <a:ext cx="525780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01384" y="4992624"/>
            <a:ext cx="493776" cy="493776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01384" y="499262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7159752" y="4791456"/>
            <a:ext cx="411480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IP 콜라보 plush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1~4 : 신규 확장 영역(키덜트·수집·감성 케어)   |   5~8 : 오로라 기존 강점 기반 심화 영역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BRAND MAPPING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브랜드 분류 정정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19072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562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3A8A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오로라월드 자사 브랜드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914400" y="24323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Palm Pals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미니 · 백참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980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Miyoni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리얼리즘 동물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3529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Eco Nation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친환경 · 재생소재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4078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ebba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베이비 센서리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91440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Flopsie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클래식 봉제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309360" y="1719072"/>
            <a:ext cx="521208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1856232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벤치마크 · 경쟁 브랜드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583680" y="24323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Jellycat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감성 · 프리미엄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83680" y="298094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Squishmallows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수집 · 대형 IP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583680" y="35295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Douglas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리얼리즘 동물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0" y="407822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GUND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클래식 · 베이비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583680" y="462686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Mary Meyer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베이비 센서리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583680" y="517550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POP MART</a:t>
            </a:r>
            <a:pPr indent="0" marL="0">
              <a:buNone/>
            </a:pPr>
            <a:r>
              <a:rPr lang="en-US" sz="2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 블라인드박스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정정 : Mary Meyer · Douglas · GUND는 오로라 브랜드가 아닌 경쟁사입니다. 기존 자료의 혼용 분류를 위와 같이 분리했습니다.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MARKET SIZE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시장은 성인 컬렉터로 커진다</a:t>
            </a:r>
            <a:endParaRPr lang="en-US" sz="3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02920" y="1737360"/>
          <a:ext cx="60350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78308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78040" y="1783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성인 컬렉터가 성장 동력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6903720" y="283464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78040" y="28346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완구 → 자기표현 아이템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903720" y="3886200"/>
            <a:ext cx="4617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78040" y="388620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수집 · 착용 · 공유형이 유리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6903720" y="4937760"/>
            <a:ext cx="4617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903720" y="493776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CAGR 약 8.3%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출처 : Grand View Research, Stuffed Animals &amp; Plush Toys Market (2025 → 2033 전망) · 2029년은 보간 추정치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 PRIORITY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오로라 개발 우선순위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46504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46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61872" y="16916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4~6인치 미니 플러시 백참 · 클립온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909560" y="169164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착용형 수집 트렌드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0080" y="218998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67712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67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61872" y="221284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블라인드박스형 캐릭터 봉제 시리즈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909560" y="221284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언박싱 · 수집 문화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0080" y="2711196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788920"/>
            <a:ext cx="365760" cy="3657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61872" y="273405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온열 · 무게감 · 향기 기능성 plush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909560" y="273405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힐링 · 수면 케어 확장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640080" y="3232404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331012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61872" y="3255264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어글리 큐트 신규 캐릭터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909560" y="3255264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키덜트 · SNS 바이럴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640080" y="3753612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831336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831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61872" y="3776472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Miyoni · Eco Nation 프리미엄 라인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909560" y="3776472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강점 + 친환경</a:t>
            </a:r>
            <a:endParaRPr lang="en-US" sz="2600" dirty="0"/>
          </a:p>
        </p:txBody>
      </p:sp>
      <p:sp>
        <p:nvSpPr>
          <p:cNvPr id="28" name="Shape 26"/>
          <p:cNvSpPr/>
          <p:nvPr/>
        </p:nvSpPr>
        <p:spPr>
          <a:xfrm>
            <a:off x="640080" y="42748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52544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352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61872" y="429768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ebba 베이비 센서리 강화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7909560" y="4297680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출산 · 육아 선물 수요</a:t>
            </a:r>
            <a:endParaRPr lang="en-US" sz="2600" dirty="0"/>
          </a:p>
        </p:txBody>
      </p:sp>
      <p:sp>
        <p:nvSpPr>
          <p:cNvPr id="33" name="Shape 31"/>
          <p:cNvSpPr/>
          <p:nvPr/>
        </p:nvSpPr>
        <p:spPr>
          <a:xfrm>
            <a:off x="640080" y="479602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0080" y="4873752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873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261872" y="4818888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푸드 · 디저트 · 홈데코 plush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909560" y="4818888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라이프스타일 채널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40080" y="5317236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5394960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5394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261872" y="5340096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IP 미니 plush 협업</a:t>
            </a:r>
            <a:endParaRPr lang="en-US" sz="2600" dirty="0"/>
          </a:p>
        </p:txBody>
      </p:sp>
      <p:sp>
        <p:nvSpPr>
          <p:cNvPr id="42" name="Text 40"/>
          <p:cNvSpPr/>
          <p:nvPr/>
        </p:nvSpPr>
        <p:spPr>
          <a:xfrm>
            <a:off x="7909560" y="5340096"/>
            <a:ext cx="3611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선물 · 위시리스트 수요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1~3순위 : 2026 하반기 선행 개발 착수   |   4~8순위 : 2027 라인업 검토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결론 및 다음 단계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73736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네 지표를 교차하면, 지금 잘 팔리는 봉제완구가 아니라</a:t>
            </a:r>
            <a:endParaRPr lang="en-US" sz="2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2800" b="1" dirty="0">
                <a:solidFill>
                  <a:srgbClr val="DC2626"/>
                </a:solidFill>
                <a:latin typeface="NEXON Lv1 Gothic" pitchFamily="34" charset="0"/>
                <a:ea typeface="NEXON Lv1 Gothic" pitchFamily="34" charset="-122"/>
                <a:cs typeface="NEXON Lv1 Gothic" pitchFamily="34" charset="-120"/>
              </a:rPr>
              <a:t>앞으로 성장할 상품군이 보인다.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40080" y="3520440"/>
            <a:ext cx="344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758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411480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랭킹 주 1회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· 아카이브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캡처 일시 병기 필수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58640" y="3520440"/>
            <a:ext cx="344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2960" y="36758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32960" y="411480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교차 상위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SKU 리스트업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3296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경쟁사 · 소재 · 가격대 분석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77200" y="3520440"/>
            <a:ext cx="34442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1520" y="3675888"/>
            <a:ext cx="289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51520" y="4114800"/>
            <a:ext cx="289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· 백참 라인</a:t>
            </a:r>
            <a:endParaRPr lang="en-US" sz="2600" dirty="0"/>
          </a:p>
          <a:p>
            <a:pPr indent="0" marL="0">
              <a:lnSpc>
                <a:spcPts val="3400"/>
              </a:lnSpc>
              <a:buNone/>
            </a:pPr>
            <a:r>
              <a:rPr lang="en-US" sz="2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선행 기획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351520" y="5166360"/>
            <a:ext cx="289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 하반기 착수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0080" y="6108192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자료의 데이터 기준일은 2026. 10. 05. (금일 조회 기준)입니다. Amazon 랭킹은 접속 시점 · 지역 · 계정 · 재고에 따라 변동되므로, 재인용 시 조회 일시를 반드시 함께 기재하십시오.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0" y="63825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 10. 05. 기준   |   9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봉제완구 랭킹 4대 지표 교차분석</dc:title>
  <dc:subject>PptxGenJS Presentation</dc:subject>
  <dc:creator>Aurora World</dc:creator>
  <cp:lastModifiedBy>Aurora World</cp:lastModifiedBy>
  <cp:revision>1</cp:revision>
  <dcterms:created xsi:type="dcterms:W3CDTF">2026-10-05T10:45:08Z</dcterms:created>
  <dcterms:modified xsi:type="dcterms:W3CDTF">2026-10-05T10:45:08Z</dcterms:modified>
</cp:coreProperties>
</file>